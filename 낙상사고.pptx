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Noto Sans KR" panose="020B0600000101010101" charset="-127"/>
      <p:regular r:id="rId11"/>
    </p:embeddedFont>
    <p:embeddedFont>
      <p:font typeface="Noto Sans KR Bold" panose="020B0600000101010101" charset="-127"/>
      <p:regular r:id="rId12"/>
    </p:embeddedFont>
    <p:embeddedFont>
      <p:font typeface="Noto Sans KR SemiBold" panose="020B0600000101010101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53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도입부에서는 기존 '주의 표지판'이나 사후 조치 중심의 한계를 짚고, 왜 위험 순간 즉각적인 '음성 안내'가 낙상 예방의 핵심인지 제안 배경을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가정과 시설에서 빈발하는 4대 낙상 구역을 규정합니다. 각 장소마다 위험의 성격(수분, 조도, 기상 직후 불균형, 문턱)이 다르기 때문에 획일적 대책이 아닌 맞춤 대응이 필요함을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감지, 알고리즘 판단, 즉시 발화의 3단계 메커니즘을 설명합니다. 카메라 영상 없이 물리적 센서만으로 작동하여 고령자의 사생활을 보호하면서도 즉각적으로 개입한다는 점을 부각합니다.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공간별 음성 스크립트를 카드 형태로 비교 제시합니다. 단순 경고음이 아니라 행동 유도형 문장이 제공되어 당황하지 않고 올바른 동작을 취하도록 돕습니다.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고령자 친화적 인터페이스로서 음성의 장점을 설파합니다. 스마트워치나 비상벨은 당황한 순간 착용하지 않거나 누르지 못하는 한계가 있음을 비교해 음성 안내의 당위성을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의사결정자를 위해 부담 없는 도입 단계를 제시합니다. 초기 대규모 설비 투자가 아닌 1개 고위험 공간(욕실) 실증 후 데이터 검증을 거쳐 전 시설로 확장하는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요약 및 최종 제안(Call to Action)입니다. 이용자, 보호자, 시설 관리자 3자의 구체적 가치를 정리하고 1곳 시범 운영을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364"/>
            <a:ext cx="71118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CARE &amp; LIFE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59850"/>
            <a:ext cx="6705432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4400" kern="100" spc="-66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낙상사고는 주의보다</a:t>
            </a:r>
            <a:endParaRPr lang="ko-KR" sz="4400" dirty="0"/>
          </a:p>
          <a:p>
            <a:pPr marL="0" indent="0" algn="l">
              <a:lnSpc>
                <a:spcPct val="92000"/>
              </a:lnSpc>
              <a:buNone/>
            </a:pPr>
            <a:r>
              <a:rPr lang="ko-KR" altLang="en-US" sz="4400" kern="100" spc="-66" dirty="0" err="1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빠른대처가</a:t>
            </a:r>
            <a:r>
              <a:rPr lang="ko-KR" altLang="en-US" sz="4400" kern="100" spc="-66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필요합니다</a:t>
            </a:r>
            <a:r>
              <a:rPr lang="en-US" altLang="ko-KR" sz="4400" kern="100" spc="-66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364939"/>
            <a:ext cx="670543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고령자 낙상 사고는 사후 경고문이나 평소의 당부만으로 막기 어렵습니다. </a:t>
            </a:r>
            <a:endParaRPr lang="en-US" altLang="ko-KR" sz="1600" dirty="0">
              <a:solidFill>
                <a:srgbClr val="1D1D1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위험이 발생하는 바로 그 찰나, 공간이 먼저 인지하고 적시 음성으로 행동을 유도해야 안전을 지킬 수 있습니다.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388361"/>
            <a:ext cx="5723482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가정 및 요양·의료시설 도입 검토를 위한 스마트 세이프티 음성 케어 솔루션 제안서</a:t>
            </a:r>
            <a:endParaRPr lang="ko-KR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4E1317A-7882-4592-9C71-E51886E052EC}"/>
              </a:ext>
            </a:extLst>
          </p:cNvPr>
          <p:cNvSpPr/>
          <p:nvPr/>
        </p:nvSpPr>
        <p:spPr>
          <a:xfrm>
            <a:off x="609585" y="3969962"/>
            <a:ext cx="5723482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r>
              <a:rPr lang="en-US" altLang="ko-KR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ko-KR" altLang="en-US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박서현</a:t>
            </a:r>
            <a:r>
              <a:rPr lang="en-US" altLang="ko-KR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r>
              <a:rPr lang="en-US" altLang="ko-KR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</a:rPr>
              <a:t>2026.10.12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1109"/>
            <a:ext cx="9101682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낙상 위험은 생활 공간 곳곳에 숨어 있습니다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91349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일상적인 동선마다 서로 다른 위험 요소가 결합하여 순간적인 균형 상실을 유발합니다.</a:t>
            </a:r>
            <a:endParaRPr lang="ko-KR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69046"/>
            <a:ext cx="2514537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117009"/>
            <a:ext cx="251453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욕실</a:t>
            </a:r>
            <a:endParaRPr lang="ko-KR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5581035"/>
            <a:ext cx="251453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6B696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수분·시야</a:t>
            </a:r>
            <a:r>
              <a:rPr lang="ko-KR" alt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물기와 비누 거품, 샤워 후 수증기로 인한 급격한 시야 저하</a:t>
            </a:r>
            <a:endParaRPr lang="ko-KR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2369046"/>
            <a:ext cx="2514537" cy="2514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8914" y="5117009"/>
            <a:ext cx="251453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계단·복도</a:t>
            </a:r>
            <a:endParaRPr lang="ko-KR" sz="2000" dirty="0"/>
          </a:p>
        </p:txBody>
      </p:sp>
      <p:sp>
        <p:nvSpPr>
          <p:cNvPr id="9" name="Text 5"/>
          <p:cNvSpPr/>
          <p:nvPr/>
        </p:nvSpPr>
        <p:spPr>
          <a:xfrm>
            <a:off x="3428914" y="5581035"/>
            <a:ext cx="251453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6B696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조도·장애물</a:t>
            </a:r>
            <a:r>
              <a:rPr lang="ko-KR" alt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어두운 야간 조도, 예기치 않은 바닥 장애물과 급한 보행</a:t>
            </a:r>
            <a:endParaRPr lang="ko-KR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369046"/>
            <a:ext cx="2514537" cy="2514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48244" y="5117009"/>
            <a:ext cx="251453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침실</a:t>
            </a:r>
            <a:endParaRPr lang="ko-KR" sz="2000" dirty="0"/>
          </a:p>
        </p:txBody>
      </p:sp>
      <p:sp>
        <p:nvSpPr>
          <p:cNvPr id="12" name="Text 7"/>
          <p:cNvSpPr/>
          <p:nvPr/>
        </p:nvSpPr>
        <p:spPr>
          <a:xfrm>
            <a:off x="6248244" y="5581035"/>
            <a:ext cx="251453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6B696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기상·균형</a:t>
            </a:r>
            <a:r>
              <a:rPr lang="ko-KR" alt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야간 기상 직후의 혈압 저하, 침대 주변 슬리퍼와 급격한 방향 전환</a:t>
            </a:r>
            <a:endParaRPr lang="ko-KR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2369046"/>
            <a:ext cx="2514537" cy="2514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67573" y="5117009"/>
            <a:ext cx="251453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주방·현관</a:t>
            </a:r>
            <a:endParaRPr lang="ko-KR" sz="2000" dirty="0"/>
          </a:p>
        </p:txBody>
      </p:sp>
      <p:sp>
        <p:nvSpPr>
          <p:cNvPr id="15" name="Text 9"/>
          <p:cNvSpPr/>
          <p:nvPr/>
        </p:nvSpPr>
        <p:spPr>
          <a:xfrm>
            <a:off x="9067573" y="5581035"/>
            <a:ext cx="251453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6B696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문턱·분주함</a:t>
            </a:r>
            <a:r>
              <a:rPr lang="ko-KR" alt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조리 중 흘린 물기, 신발장 앞 미세 단차와 외출 준비 중의 분주함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1109"/>
            <a:ext cx="9389548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위험을 감지하면 공간이 먼저 말을 겁니다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315102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감지부터 판단, 실시간 음성 방송과 보호자 연결까지 3단계로 즉각 대응합니다.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859187"/>
            <a:ext cx="3352716" cy="2279452"/>
          </a:xfrm>
          <a:prstGeom prst="roundRect">
            <a:avLst>
              <a:gd name="adj" fmla="val 1170"/>
            </a:avLst>
          </a:prstGeom>
          <a:noFill/>
          <a:ln w="19050">
            <a:solidFill>
              <a:srgbClr val="CEC8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3129657"/>
            <a:ext cx="81585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Noto Sans KR SemiBold" pitchFamily="34" charset="0"/>
                <a:ea typeface="Noto Sans KR SemiBold" pitchFamily="34" charset="-122"/>
                <a:cs typeface="Noto Sans K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1295" y="3133824"/>
            <a:ext cx="24733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정밀 감지</a:t>
            </a:r>
            <a:endParaRPr lang="ko-KR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295" y="3494187"/>
            <a:ext cx="177796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1295" y="3876417"/>
            <a:ext cx="247336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수분, 조도 변화, 인체 움직임, 문턱 및 장애물 센서가 공간의 실시간 위험 신호를 측정합니다.</a:t>
            </a:r>
            <a:endParaRPr lang="ko-KR" sz="1400" dirty="0"/>
          </a:p>
        </p:txBody>
      </p:sp>
      <p:sp>
        <p:nvSpPr>
          <p:cNvPr id="9" name="Shape 6"/>
          <p:cNvSpPr/>
          <p:nvPr/>
        </p:nvSpPr>
        <p:spPr>
          <a:xfrm>
            <a:off x="4419489" y="2859187"/>
            <a:ext cx="3352716" cy="2279452"/>
          </a:xfrm>
          <a:prstGeom prst="roundRect">
            <a:avLst>
              <a:gd name="adj" fmla="val 1170"/>
            </a:avLst>
          </a:prstGeom>
          <a:noFill/>
          <a:ln w="19050">
            <a:solidFill>
              <a:srgbClr val="CEC8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7133" y="3129657"/>
            <a:ext cx="81585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Noto Sans KR SemiBold" pitchFamily="34" charset="0"/>
                <a:ea typeface="Noto Sans KR SemiBold" pitchFamily="34" charset="-122"/>
                <a:cs typeface="Noto Sans K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51199" y="3133824"/>
            <a:ext cx="24733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수준 및 문맥 판단</a:t>
            </a:r>
            <a:endParaRPr lang="ko-KR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199" y="3494187"/>
            <a:ext cx="177796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51199" y="3876417"/>
            <a:ext cx="247336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시간대(심야/주간)와 이용자의 체류 시간, 위험 심각도를 분석해 가장 적절한 안내 시점과 문구를 선택합니다.</a:t>
            </a:r>
            <a:endParaRPr lang="ko-KR" sz="1400" dirty="0"/>
          </a:p>
        </p:txBody>
      </p:sp>
      <p:sp>
        <p:nvSpPr>
          <p:cNvPr id="14" name="Shape 10"/>
          <p:cNvSpPr/>
          <p:nvPr/>
        </p:nvSpPr>
        <p:spPr>
          <a:xfrm>
            <a:off x="8229394" y="2859187"/>
            <a:ext cx="3352716" cy="2279452"/>
          </a:xfrm>
          <a:prstGeom prst="roundRect">
            <a:avLst>
              <a:gd name="adj" fmla="val 1170"/>
            </a:avLst>
          </a:prstGeom>
          <a:noFill/>
          <a:ln w="19050">
            <a:solidFill>
              <a:srgbClr val="CEC8B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77038" y="3129657"/>
            <a:ext cx="81585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6B6963"/>
                </a:solidFill>
                <a:latin typeface="Noto Sans KR SemiBold" pitchFamily="34" charset="0"/>
                <a:ea typeface="Noto Sans KR SemiBold" pitchFamily="34" charset="-122"/>
                <a:cs typeface="Noto Sans K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861104" y="3133824"/>
            <a:ext cx="247336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음성 및 보호자 전파</a:t>
            </a:r>
            <a:endParaRPr lang="ko-KR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104" y="3494187"/>
            <a:ext cx="177796" cy="177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1104" y="3876417"/>
            <a:ext cx="247336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스피커로 즉시 주의 행동을 안내하고, 고위험 지속 시 전용 관리자 웹 및 보호자 앱으로 호출을 전송합니다.</a:t>
            </a:r>
            <a:endParaRPr lang="ko-KR" sz="1400" dirty="0"/>
          </a:p>
        </p:txBody>
      </p:sp>
      <p:sp>
        <p:nvSpPr>
          <p:cNvPr id="19" name="Text 14"/>
          <p:cNvSpPr/>
          <p:nvPr/>
        </p:nvSpPr>
        <p:spPr>
          <a:xfrm>
            <a:off x="609585" y="5344478"/>
            <a:ext cx="6087548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AI 기반 분석으로 프라이버시 침해(카메라 미사용) 없이 공간 상태만 안전하게 감지합니다.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3867" y="624364"/>
            <a:ext cx="685782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9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STUDY · BATHROOM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33867" y="951700"/>
            <a:ext cx="6248244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욕실에서는 ‘물기가 남아 </a:t>
            </a:r>
            <a:r>
              <a:rPr lang="ko-KR" altLang="en-US" sz="3800" kern="100" spc="-57" dirty="0" err="1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있음’을</a:t>
            </a: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알려줍니다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5" name="Text 2"/>
          <p:cNvSpPr/>
          <p:nvPr/>
        </p:nvSpPr>
        <p:spPr>
          <a:xfrm>
            <a:off x="5537061" y="2359819"/>
            <a:ext cx="271773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스위치 연동</a:t>
            </a:r>
            <a:endParaRPr lang="ko-KR" sz="1600" b="1" dirty="0"/>
          </a:p>
        </p:txBody>
      </p:sp>
      <p:sp>
        <p:nvSpPr>
          <p:cNvPr id="6" name="Text 3"/>
          <p:cNvSpPr/>
          <p:nvPr/>
        </p:nvSpPr>
        <p:spPr>
          <a:xfrm>
            <a:off x="5537061" y="2765266"/>
            <a:ext cx="27177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 또는 안전 스위치가 켜지면 욕실 상태를 확인합니다.</a:t>
            </a:r>
            <a:endParaRPr lang="ko-KR" sz="1400" dirty="0"/>
          </a:p>
        </p:txBody>
      </p:sp>
      <p:sp>
        <p:nvSpPr>
          <p:cNvPr id="7" name="Text 4"/>
          <p:cNvSpPr/>
          <p:nvPr/>
        </p:nvSpPr>
        <p:spPr>
          <a:xfrm>
            <a:off x="8661183" y="2359819"/>
            <a:ext cx="271773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수분 감지</a:t>
            </a:r>
            <a:endParaRPr lang="ko-KR" sz="1600" b="1" dirty="0"/>
          </a:p>
        </p:txBody>
      </p:sp>
      <p:sp>
        <p:nvSpPr>
          <p:cNvPr id="8" name="Text 5"/>
          <p:cNvSpPr/>
          <p:nvPr/>
        </p:nvSpPr>
        <p:spPr>
          <a:xfrm>
            <a:off x="8661183" y="2765266"/>
            <a:ext cx="27177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바닥의 잔여 물기를 감지하면 음성 안내를 실행합니다.</a:t>
            </a:r>
            <a:endParaRPr lang="ko-KR" sz="1400" dirty="0"/>
          </a:p>
        </p:txBody>
      </p:sp>
      <p:sp>
        <p:nvSpPr>
          <p:cNvPr id="9" name="Text 6"/>
          <p:cNvSpPr/>
          <p:nvPr/>
        </p:nvSpPr>
        <p:spPr>
          <a:xfrm>
            <a:off x="5537061" y="3697684"/>
            <a:ext cx="271773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 예시</a:t>
            </a:r>
            <a:endParaRPr lang="ko-KR" sz="1600" b="1" dirty="0"/>
          </a:p>
        </p:txBody>
      </p:sp>
      <p:sp>
        <p:nvSpPr>
          <p:cNvPr id="10" name="Text 7"/>
          <p:cNvSpPr/>
          <p:nvPr/>
        </p:nvSpPr>
        <p:spPr>
          <a:xfrm>
            <a:off x="5537061" y="4103132"/>
            <a:ext cx="27177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b="1" dirty="0">
                <a:solidFill>
                  <a:srgbClr val="1D1D1B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“바닥에 물기가 남아 있습니다. 물기를 제거한 후 이동해 주세요.”</a:t>
            </a:r>
            <a:endParaRPr lang="ko-KR" sz="1400" dirty="0"/>
          </a:p>
        </p:txBody>
      </p:sp>
      <p:sp>
        <p:nvSpPr>
          <p:cNvPr id="11" name="Text 8"/>
          <p:cNvSpPr/>
          <p:nvPr/>
        </p:nvSpPr>
        <p:spPr>
          <a:xfrm>
            <a:off x="8661183" y="3697684"/>
            <a:ext cx="271773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대응</a:t>
            </a:r>
            <a:endParaRPr lang="ko-KR" sz="1600" b="1" dirty="0"/>
          </a:p>
        </p:txBody>
      </p:sp>
      <p:sp>
        <p:nvSpPr>
          <p:cNvPr id="12" name="Text 9"/>
          <p:cNvSpPr/>
          <p:nvPr/>
        </p:nvSpPr>
        <p:spPr>
          <a:xfrm>
            <a:off x="8661183" y="4103132"/>
            <a:ext cx="27177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시간 뒤에도 위험이 지속되면 보호자에게 알립니다.</a:t>
            </a:r>
            <a:endParaRPr lang="ko-KR" sz="1400" dirty="0"/>
          </a:p>
        </p:txBody>
      </p:sp>
      <p:sp>
        <p:nvSpPr>
          <p:cNvPr id="13" name="Shape 10"/>
          <p:cNvSpPr/>
          <p:nvPr/>
        </p:nvSpPr>
        <p:spPr>
          <a:xfrm>
            <a:off x="8451639" y="2129631"/>
            <a:ext cx="12700" cy="1337866"/>
          </a:xfrm>
          <a:prstGeom prst="rect">
            <a:avLst/>
          </a:prstGeom>
          <a:solidFill>
            <a:srgbClr val="C4BEB2"/>
          </a:solidFill>
          <a:ln/>
        </p:spPr>
      </p:sp>
      <p:sp>
        <p:nvSpPr>
          <p:cNvPr id="14" name="Shape 11"/>
          <p:cNvSpPr/>
          <p:nvPr/>
        </p:nvSpPr>
        <p:spPr>
          <a:xfrm>
            <a:off x="5333867" y="3461147"/>
            <a:ext cx="3124122" cy="12700"/>
          </a:xfrm>
          <a:prstGeom prst="rect">
            <a:avLst/>
          </a:prstGeom>
          <a:solidFill>
            <a:srgbClr val="C4BEB2"/>
          </a:solidFill>
          <a:ln/>
        </p:spPr>
      </p:sp>
      <p:sp>
        <p:nvSpPr>
          <p:cNvPr id="15" name="Shape 12"/>
          <p:cNvSpPr/>
          <p:nvPr/>
        </p:nvSpPr>
        <p:spPr>
          <a:xfrm>
            <a:off x="8451639" y="3467497"/>
            <a:ext cx="12700" cy="1337866"/>
          </a:xfrm>
          <a:prstGeom prst="rect">
            <a:avLst/>
          </a:prstGeom>
          <a:solidFill>
            <a:srgbClr val="C4BEB2"/>
          </a:solidFill>
          <a:ln/>
        </p:spPr>
      </p:sp>
      <p:sp>
        <p:nvSpPr>
          <p:cNvPr id="16" name="Shape 13"/>
          <p:cNvSpPr/>
          <p:nvPr/>
        </p:nvSpPr>
        <p:spPr>
          <a:xfrm>
            <a:off x="8457988" y="3461147"/>
            <a:ext cx="3124122" cy="12700"/>
          </a:xfrm>
          <a:prstGeom prst="rect">
            <a:avLst/>
          </a:prstGeom>
          <a:solidFill>
            <a:srgbClr val="C4BEB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1109"/>
            <a:ext cx="8763015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장소마다 다른 위험 신호를 맞춤 안내합니다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91349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정형화된 경고음 대신, 각 공간의 위험 요인에 맞는 직관적인 행동 지침을 음성으로 전달합니다.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394446"/>
            <a:ext cx="2514537" cy="2482552"/>
          </a:xfrm>
          <a:prstGeom prst="roundRect">
            <a:avLst>
              <a:gd name="adj" fmla="val 1074"/>
            </a:avLst>
          </a:prstGeom>
          <a:solidFill>
            <a:srgbClr val="E8E2D4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612410"/>
            <a:ext cx="23113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STAIRS &amp; CORRIDOR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780" y="2905224"/>
            <a:ext cx="21081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계단 · 복도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812780" y="3270667"/>
            <a:ext cx="2108147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b="1" dirty="0">
                <a:solidFill>
                  <a:srgbClr val="1D1D1B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“앞쪽에 장애물이 있습니다. 손잡이를 잡고 천천히 이동해 주세요.”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812780" y="4099917"/>
            <a:ext cx="2108048" cy="19050"/>
          </a:xfrm>
          <a:prstGeom prst="roundRect">
            <a:avLst>
              <a:gd name="adj" fmla="val 49999"/>
            </a:avLst>
          </a:prstGeom>
          <a:solidFill>
            <a:srgbClr val="C4BEB2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4311531"/>
            <a:ext cx="210814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조도 센서 연동, 야간 보행 시 발밑 조명 자동 점등과 병행 안내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3428914" y="2394446"/>
            <a:ext cx="2514537" cy="2482552"/>
          </a:xfrm>
          <a:prstGeom prst="roundRect">
            <a:avLst>
              <a:gd name="adj" fmla="val 1074"/>
            </a:avLst>
          </a:prstGeom>
          <a:solidFill>
            <a:srgbClr val="E8E2D4"/>
          </a:solidFill>
          <a:ln/>
        </p:spPr>
      </p:sp>
      <p:sp>
        <p:nvSpPr>
          <p:cNvPr id="11" name="Text 9"/>
          <p:cNvSpPr/>
          <p:nvPr/>
        </p:nvSpPr>
        <p:spPr>
          <a:xfrm>
            <a:off x="3632109" y="2612410"/>
            <a:ext cx="23113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BEDROOM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2109" y="2905224"/>
            <a:ext cx="21081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침실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3632109" y="3270667"/>
            <a:ext cx="2108147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b="1" dirty="0">
                <a:solidFill>
                  <a:srgbClr val="1D1D1B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“주변이 어둡습니다. 잠시 앉아 계신 후 조명을 켜고 일어나세요.”</a:t>
            </a:r>
            <a:endParaRPr lang="ko-KR" sz="1200" dirty="0"/>
          </a:p>
        </p:txBody>
      </p:sp>
      <p:sp>
        <p:nvSpPr>
          <p:cNvPr id="14" name="Shape 12"/>
          <p:cNvSpPr/>
          <p:nvPr/>
        </p:nvSpPr>
        <p:spPr>
          <a:xfrm>
            <a:off x="3632109" y="4099917"/>
            <a:ext cx="2108048" cy="19050"/>
          </a:xfrm>
          <a:prstGeom prst="roundRect">
            <a:avLst>
              <a:gd name="adj" fmla="val 49999"/>
            </a:avLst>
          </a:prstGeom>
          <a:solidFill>
            <a:srgbClr val="C4BE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32109" y="4311531"/>
            <a:ext cx="210814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기립 감지 매트 연동, 기립성 저혈압 어지럼 방지 대기 유도</a:t>
            </a:r>
            <a:endParaRPr lang="ko-KR" sz="1100" dirty="0"/>
          </a:p>
        </p:txBody>
      </p:sp>
      <p:sp>
        <p:nvSpPr>
          <p:cNvPr id="16" name="Shape 14"/>
          <p:cNvSpPr/>
          <p:nvPr/>
        </p:nvSpPr>
        <p:spPr>
          <a:xfrm>
            <a:off x="6248244" y="2394446"/>
            <a:ext cx="2514537" cy="2482552"/>
          </a:xfrm>
          <a:prstGeom prst="roundRect">
            <a:avLst>
              <a:gd name="adj" fmla="val 1074"/>
            </a:avLst>
          </a:prstGeom>
          <a:solidFill>
            <a:srgbClr val="E8E2D4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439" y="2612410"/>
            <a:ext cx="23113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KITCHEN &amp; ENTRANCE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1439" y="2905224"/>
            <a:ext cx="21081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주방 · 현관</a:t>
            </a:r>
            <a:endParaRPr lang="ko-KR" sz="1600" dirty="0"/>
          </a:p>
        </p:txBody>
      </p:sp>
      <p:sp>
        <p:nvSpPr>
          <p:cNvPr id="19" name="Text 17"/>
          <p:cNvSpPr/>
          <p:nvPr/>
        </p:nvSpPr>
        <p:spPr>
          <a:xfrm>
            <a:off x="6451439" y="3270667"/>
            <a:ext cx="210814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b="1" dirty="0">
                <a:solidFill>
                  <a:srgbClr val="1D1D1B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“문턱과 바닥 상태를 확인한 후 천천히 발을 내딛으세요.”</a:t>
            </a:r>
            <a:endParaRPr lang="ko-KR" sz="1200" dirty="0"/>
          </a:p>
        </p:txBody>
      </p:sp>
      <p:sp>
        <p:nvSpPr>
          <p:cNvPr id="20" name="Shape 18"/>
          <p:cNvSpPr/>
          <p:nvPr/>
        </p:nvSpPr>
        <p:spPr>
          <a:xfrm>
            <a:off x="6451439" y="3878957"/>
            <a:ext cx="2108048" cy="19050"/>
          </a:xfrm>
          <a:prstGeom prst="roundRect">
            <a:avLst>
              <a:gd name="adj" fmla="val 49999"/>
            </a:avLst>
          </a:prstGeom>
          <a:solidFill>
            <a:srgbClr val="C4BE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51439" y="4090571"/>
            <a:ext cx="210814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단차 및 액체 누수 감지 시 빠른 걸음 방지 안내 발화</a:t>
            </a:r>
            <a:endParaRPr lang="ko-KR" sz="1100" dirty="0"/>
          </a:p>
        </p:txBody>
      </p:sp>
      <p:sp>
        <p:nvSpPr>
          <p:cNvPr id="22" name="Shape 20"/>
          <p:cNvSpPr/>
          <p:nvPr/>
        </p:nvSpPr>
        <p:spPr>
          <a:xfrm>
            <a:off x="9067573" y="2394446"/>
            <a:ext cx="2514537" cy="2482552"/>
          </a:xfrm>
          <a:prstGeom prst="rect">
            <a:avLst/>
          </a:prstGeom>
          <a:solidFill>
            <a:srgbClr val="1E4D2B"/>
          </a:solidFill>
          <a:ln/>
        </p:spPr>
      </p:sp>
      <p:sp>
        <p:nvSpPr>
          <p:cNvPr id="23" name="Text 21"/>
          <p:cNvSpPr/>
          <p:nvPr/>
        </p:nvSpPr>
        <p:spPr>
          <a:xfrm>
            <a:off x="9270768" y="2612410"/>
            <a:ext cx="23113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CARE FACILITY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70768" y="2905224"/>
            <a:ext cx="21081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요양 · 의료시설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9270768" y="3270667"/>
            <a:ext cx="2108147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“야간 이동이 확인되었습니다. 도움이 필요하시면 벨을 눌러주세요.”</a:t>
            </a:r>
            <a:endParaRPr lang="ko-KR" sz="1200" dirty="0"/>
          </a:p>
        </p:txBody>
      </p:sp>
      <p:sp>
        <p:nvSpPr>
          <p:cNvPr id="26" name="Text 24"/>
          <p:cNvSpPr/>
          <p:nvPr/>
        </p:nvSpPr>
        <p:spPr>
          <a:xfrm>
            <a:off x="9270768" y="4311531"/>
            <a:ext cx="210814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간호 스테이션 실시간 팝업 호출 및 간병인 동행 유도</a:t>
            </a:r>
            <a:endParaRPr lang="ko-K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1109"/>
            <a:ext cx="7831682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음성안내는 고령자에게 </a:t>
            </a:r>
            <a:endParaRPr lang="en-US" altLang="ko-KR" sz="3800" kern="100" spc="-57" dirty="0">
              <a:solidFill>
                <a:srgbClr val="1D1D1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자연스러운 안전 인터페이스입니다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49001"/>
            <a:ext cx="355591" cy="355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2971" y="1876028"/>
            <a:ext cx="622284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조작이 필요 없는 제로 인터랙션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1142971" y="2276396"/>
            <a:ext cx="622284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화면을 찾거나 웨어러블 버튼을 누르지 않아도, 공간에 진입하는 순간 직관적으로 위험을 인지합니다.</a:t>
            </a:r>
            <a:endParaRPr lang="ko-KR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011646"/>
            <a:ext cx="355591" cy="355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2971" y="3038673"/>
            <a:ext cx="622284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명확한 행동 지침 전달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1142971" y="3439041"/>
            <a:ext cx="622284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‘주의하세요’라는 추상적 문구 대신 ‘손잡이를 잡으세요’, ‘물기를 닦으세요’처럼 1초 안에 실천할 행동을 지시합니다.</a:t>
            </a:r>
            <a:endParaRPr lang="ko-KR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174292"/>
            <a:ext cx="355591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971" y="4201319"/>
            <a:ext cx="622284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개인별 인지·청력 맞춤형 음향 설정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1142971" y="4601686"/>
            <a:ext cx="622284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고령자의 저주파 난청 특성을 고려한 음역대 튜닝, 또렷한 억양, 공간 소음도에 따른 가변 볼륨을 지원합니다.</a:t>
            </a:r>
            <a:endParaRPr lang="ko-KR" sz="1200" dirty="0"/>
          </a:p>
        </p:txBody>
      </p:sp>
      <p:sp>
        <p:nvSpPr>
          <p:cNvPr id="12" name="Shape 7"/>
          <p:cNvSpPr/>
          <p:nvPr/>
        </p:nvSpPr>
        <p:spPr>
          <a:xfrm>
            <a:off x="7924602" y="1581944"/>
            <a:ext cx="4267093" cy="3694113"/>
          </a:xfrm>
          <a:prstGeom prst="rect">
            <a:avLst/>
          </a:prstGeom>
          <a:solidFill>
            <a:srgbClr val="E8E3D8"/>
          </a:solidFill>
          <a:ln/>
        </p:spPr>
      </p:sp>
      <p:sp>
        <p:nvSpPr>
          <p:cNvPr id="13" name="Text 8"/>
          <p:cNvSpPr/>
          <p:nvPr/>
        </p:nvSpPr>
        <p:spPr>
          <a:xfrm>
            <a:off x="8203995" y="1946983"/>
            <a:ext cx="370830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100" spc="-76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9"/>
          <p:cNvSpPr/>
          <p:nvPr/>
        </p:nvSpPr>
        <p:spPr>
          <a:xfrm>
            <a:off x="8203995" y="2574131"/>
            <a:ext cx="25399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무자각 안전 개입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8203995" y="2977833"/>
            <a:ext cx="370830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착용이나 앱 실행 없이 공간 전체가 보이지 않는 안전 가드가 됩니다.</a:t>
            </a:r>
            <a:endParaRPr lang="ko-KR" sz="1100" dirty="0"/>
          </a:p>
        </p:txBody>
      </p:sp>
      <p:sp>
        <p:nvSpPr>
          <p:cNvPr id="16" name="Text 11"/>
          <p:cNvSpPr/>
          <p:nvPr/>
        </p:nvSpPr>
        <p:spPr>
          <a:xfrm>
            <a:off x="8203995" y="3603539"/>
            <a:ext cx="370830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ko-KR" altLang="en-US" sz="3800" kern="100" spc="-76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0.5초</a:t>
            </a:r>
            <a:endParaRPr lang="ko-KR" sz="3800" dirty="0"/>
          </a:p>
        </p:txBody>
      </p:sp>
      <p:sp>
        <p:nvSpPr>
          <p:cNvPr id="17" name="Text 12"/>
          <p:cNvSpPr/>
          <p:nvPr/>
        </p:nvSpPr>
        <p:spPr>
          <a:xfrm>
            <a:off x="8203995" y="4230687"/>
            <a:ext cx="25399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인지 반응 속도</a:t>
            </a:r>
            <a:endParaRPr lang="ko-KR" sz="1600" dirty="0"/>
          </a:p>
        </p:txBody>
      </p:sp>
      <p:sp>
        <p:nvSpPr>
          <p:cNvPr id="18" name="Text 13"/>
          <p:cNvSpPr/>
          <p:nvPr/>
        </p:nvSpPr>
        <p:spPr>
          <a:xfrm>
            <a:off x="8203995" y="4634389"/>
            <a:ext cx="370830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발을 내딛기 전 음성이 먼저 도착하여 위험 행동을 사전에 제어합니다.</a:t>
            </a:r>
            <a:endParaRPr lang="ko-K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4794"/>
            <a:ext cx="7619809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도입은 한 공간의 실증에서 전 시설 관리로 확장됩니다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4061420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CEC8BA"/>
          </a:solidFill>
          <a:ln/>
        </p:spPr>
      </p:sp>
      <p:sp>
        <p:nvSpPr>
          <p:cNvPr id="4" name="Shape 2"/>
          <p:cNvSpPr/>
          <p:nvPr/>
        </p:nvSpPr>
        <p:spPr>
          <a:xfrm>
            <a:off x="3287630" y="3528020"/>
            <a:ext cx="19050" cy="533400"/>
          </a:xfrm>
          <a:prstGeom prst="roundRect">
            <a:avLst>
              <a:gd name="adj" fmla="val 49999"/>
            </a:avLst>
          </a:prstGeom>
          <a:solidFill>
            <a:srgbClr val="CEC8BA"/>
          </a:solidFill>
          <a:ln/>
        </p:spPr>
      </p:sp>
      <p:sp>
        <p:nvSpPr>
          <p:cNvPr id="5" name="Shape 3"/>
          <p:cNvSpPr/>
          <p:nvPr/>
        </p:nvSpPr>
        <p:spPr>
          <a:xfrm>
            <a:off x="3230482" y="3994745"/>
            <a:ext cx="133347" cy="133350"/>
          </a:xfrm>
          <a:prstGeom prst="ellipse">
            <a:avLst/>
          </a:prstGeom>
          <a:solidFill>
            <a:srgbClr val="2F7FD0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553990"/>
            <a:ext cx="5375141" cy="974030"/>
          </a:xfrm>
          <a:prstGeom prst="roundRect">
            <a:avLst>
              <a:gd name="adj" fmla="val 2738"/>
            </a:avLst>
          </a:prstGeom>
          <a:solidFill>
            <a:srgbClr val="E8E2D4"/>
          </a:solidFill>
          <a:ln/>
        </p:spPr>
      </p:sp>
      <p:sp>
        <p:nvSpPr>
          <p:cNvPr id="7" name="Text 5"/>
          <p:cNvSpPr/>
          <p:nvPr/>
        </p:nvSpPr>
        <p:spPr>
          <a:xfrm>
            <a:off x="787380" y="2731790"/>
            <a:ext cx="50195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600" kern="100" spc="-24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787380" y="3092450"/>
            <a:ext cx="501954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욕실·복도 등 낙상 다발 구역에 센서와 음성 장치 설치</a:t>
            </a:r>
            <a:endParaRPr lang="ko-KR" sz="1400" dirty="0"/>
          </a:p>
        </p:txBody>
      </p:sp>
      <p:sp>
        <p:nvSpPr>
          <p:cNvPr id="9" name="Shape 7"/>
          <p:cNvSpPr/>
          <p:nvPr/>
        </p:nvSpPr>
        <p:spPr>
          <a:xfrm>
            <a:off x="6086323" y="4061420"/>
            <a:ext cx="19050" cy="533400"/>
          </a:xfrm>
          <a:prstGeom prst="roundRect">
            <a:avLst>
              <a:gd name="adj" fmla="val 49999"/>
            </a:avLst>
          </a:prstGeom>
          <a:solidFill>
            <a:srgbClr val="CEC8BA"/>
          </a:solidFill>
          <a:ln/>
        </p:spPr>
      </p:sp>
      <p:sp>
        <p:nvSpPr>
          <p:cNvPr id="10" name="Shape 8"/>
          <p:cNvSpPr/>
          <p:nvPr/>
        </p:nvSpPr>
        <p:spPr>
          <a:xfrm>
            <a:off x="6029174" y="3994745"/>
            <a:ext cx="133347" cy="133350"/>
          </a:xfrm>
          <a:prstGeom prst="ellipse">
            <a:avLst/>
          </a:prstGeom>
          <a:solidFill>
            <a:srgbClr val="2F7FD0"/>
          </a:solidFill>
          <a:ln/>
        </p:spPr>
      </p:sp>
      <p:sp>
        <p:nvSpPr>
          <p:cNvPr id="11" name="Shape 9"/>
          <p:cNvSpPr/>
          <p:nvPr/>
        </p:nvSpPr>
        <p:spPr>
          <a:xfrm>
            <a:off x="3408277" y="4594820"/>
            <a:ext cx="5375141" cy="974030"/>
          </a:xfrm>
          <a:prstGeom prst="roundRect">
            <a:avLst>
              <a:gd name="adj" fmla="val 2738"/>
            </a:avLst>
          </a:prstGeom>
          <a:solidFill>
            <a:srgbClr val="E8E2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86073" y="4772620"/>
            <a:ext cx="50195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600" kern="100" spc="-24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3586073" y="5133280"/>
            <a:ext cx="501954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 반응, 위험 발생 시간대, 반복 위험 구역을 데이터로 확인</a:t>
            </a:r>
            <a:endParaRPr lang="ko-KR" sz="1400" dirty="0"/>
          </a:p>
        </p:txBody>
      </p:sp>
      <p:sp>
        <p:nvSpPr>
          <p:cNvPr id="14" name="Shape 12"/>
          <p:cNvSpPr/>
          <p:nvPr/>
        </p:nvSpPr>
        <p:spPr>
          <a:xfrm>
            <a:off x="8885015" y="3528020"/>
            <a:ext cx="19050" cy="533400"/>
          </a:xfrm>
          <a:prstGeom prst="roundRect">
            <a:avLst>
              <a:gd name="adj" fmla="val 49999"/>
            </a:avLst>
          </a:prstGeom>
          <a:solidFill>
            <a:srgbClr val="CEC8B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7867" y="3994745"/>
            <a:ext cx="133347" cy="133350"/>
          </a:xfrm>
          <a:prstGeom prst="ellipse">
            <a:avLst/>
          </a:prstGeom>
          <a:solidFill>
            <a:srgbClr val="2F7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6970" y="2553990"/>
            <a:ext cx="5375141" cy="974030"/>
          </a:xfrm>
          <a:prstGeom prst="roundRect">
            <a:avLst>
              <a:gd name="adj" fmla="val 2738"/>
            </a:avLst>
          </a:prstGeom>
          <a:solidFill>
            <a:srgbClr val="E8E2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84765" y="2731790"/>
            <a:ext cx="50195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600" kern="100" spc="-24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ko-KR" sz="1600" dirty="0"/>
          </a:p>
        </p:txBody>
      </p:sp>
      <p:sp>
        <p:nvSpPr>
          <p:cNvPr id="18" name="Text 16"/>
          <p:cNvSpPr/>
          <p:nvPr/>
        </p:nvSpPr>
        <p:spPr>
          <a:xfrm>
            <a:off x="6384765" y="3092450"/>
            <a:ext cx="501954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ko-KR" altLang="en-US" sz="14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침실·계단·주방으로 확대하고 보호자·관리자 대시보드 연동</a:t>
            </a:r>
            <a:endParaRPr 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1109"/>
            <a:ext cx="9939882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낙상 예방을</a:t>
            </a:r>
            <a:endParaRPr lang="ko-KR" sz="3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‘시설의 반응 </a:t>
            </a:r>
            <a:r>
              <a:rPr lang="ko-KR" altLang="en-US" sz="3800" kern="100" spc="-57" dirty="0" err="1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속도’로</a:t>
            </a:r>
            <a:r>
              <a:rPr lang="ko-KR" altLang="en-US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바꿉니다</a:t>
            </a:r>
            <a:r>
              <a:rPr lang="en-US" altLang="ko-KR" sz="3800" kern="100" spc="-57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ko-KR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608692"/>
            <a:ext cx="629904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조심성에만 의존하던 안전 관리를 능동적 케어 인프라로 전환합니다.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787380" y="2792214"/>
            <a:ext cx="174402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· 자립적인 안심 보행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87380" y="3446582"/>
            <a:ext cx="1744024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스스로 위험을 인지하고 속도를 늦추어 존엄성을 지키는 안전한 일상을 유지합니다.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2886995" y="2792214"/>
            <a:ext cx="174412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보호자 · 원격 실시간 안심 확인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2886995" y="3446582"/>
            <a:ext cx="1744123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떨어져 있어도 부모님의 야간 기상과 위험 공간 진입 이력을 스마트폰으로 확인합니다.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4986709" y="2792214"/>
            <a:ext cx="174402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· 사고 예방 입증 및 법적 리스크 경감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4986709" y="3700582"/>
            <a:ext cx="1744024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감지와 안내 기록이 데이터로 보관되어 선제적 관리 책임을 완벽히 증빙합니다.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5596950"/>
            <a:ext cx="6654815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b="1" dirty="0">
                <a:solidFill>
                  <a:srgbClr val="1D1D1B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제안:</a:t>
            </a:r>
            <a:r>
              <a:rPr lang="ko-KR" altLang="en-US" sz="1200" dirty="0">
                <a:solidFill>
                  <a:srgbClr val="1D1D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대표 위험 공간 1곳(욕실) 무상 시범 운영을 통해 2주간의 실제 안전 변화를 확인해 보세요.</a:t>
            </a:r>
            <a:endParaRPr lang="ko-KR" sz="1200" dirty="0"/>
          </a:p>
        </p:txBody>
      </p:sp>
      <p:sp>
        <p:nvSpPr>
          <p:cNvPr id="11" name="Shape 9"/>
          <p:cNvSpPr/>
          <p:nvPr/>
        </p:nvSpPr>
        <p:spPr>
          <a:xfrm>
            <a:off x="2702850" y="2663627"/>
            <a:ext cx="12700" cy="2010966"/>
          </a:xfrm>
          <a:prstGeom prst="rect">
            <a:avLst/>
          </a:prstGeom>
          <a:solidFill>
            <a:srgbClr val="C4BE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2563" y="2663627"/>
            <a:ext cx="12700" cy="2010966"/>
          </a:xfrm>
          <a:prstGeom prst="rect">
            <a:avLst/>
          </a:prstGeom>
          <a:solidFill>
            <a:srgbClr val="C4BE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908</Words>
  <Application>Microsoft Office PowerPoint</Application>
  <PresentationFormat>와이드스크린</PresentationFormat>
  <Paragraphs>103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Noto Sans KR</vt:lpstr>
      <vt:lpstr>맑은 고딕</vt:lpstr>
      <vt:lpstr>Noto Sans KR Bold</vt:lpstr>
      <vt:lpstr>Arial</vt:lpstr>
      <vt:lpstr>Calibri</vt:lpstr>
      <vt:lpstr>Noto Sans KR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김하은 2263025</cp:lastModifiedBy>
  <cp:revision>2</cp:revision>
  <dcterms:created xsi:type="dcterms:W3CDTF">2026-10-12T07:25:53Z</dcterms:created>
  <dcterms:modified xsi:type="dcterms:W3CDTF">2026-10-12T07:34:39Z</dcterms:modified>
</cp:coreProperties>
</file>